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55E63-5E22-4F61-B61F-69169D2C31ED}" type="datetimeFigureOut">
              <a:rPr lang="en-US" smtClean="0"/>
              <a:t>25-Jan-26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4449-96CD-4F44-A29D-0C5E95B84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0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4449-96CD-4F44-A29D-0C5E95B846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2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444479B-705B-4489-957E-7E8A228BDFA0}" type="datetime1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5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88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5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537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66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25-Jan-26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2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25-Jan-26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481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14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073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318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84214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846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715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853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746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6610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25-Jan-26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10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88D5DFD-FA42-4EB0-B24E-4180C0CC5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CC864817-5955-484B-9D1F-9BC8DB739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80C083F-71A6-4E55-AE35-586518FE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White structure">
            <a:extLst>
              <a:ext uri="{FF2B5EF4-FFF2-40B4-BE49-F238E27FC236}">
                <a16:creationId xmlns:a16="http://schemas.microsoft.com/office/drawing/2014/main" id="{BC49EA22-4B64-CD4F-22B7-2256D57E041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b="24220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44056DF-7985-4692-968A-466E9E6AF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4" name="Round Diagonal Corner Rectangle 7">
              <a:extLst>
                <a:ext uri="{FF2B5EF4-FFF2-40B4-BE49-F238E27FC236}">
                  <a16:creationId xmlns:a16="http://schemas.microsoft.com/office/drawing/2014/main" id="{B414A174-532A-4602-934F-9858D1D86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40B0C0C-7F94-4725-8108-62B3B7A5A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367EAC5B-1891-480A-A3AD-B9F6A88FA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E33FF633-15BA-464F-8F5B-26C56665F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0C949DF6-E66B-4DB8-AB52-30CA781B4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309C2298-5EF9-4B09-8995-014F6D3BFF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319B2AFC-EBFF-477C-A364-6D575BE5AA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CC6B7D67-F2F8-4B07-B954-EAC9135B2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7FF1659D-33DA-4F62-8567-A54020D2E2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9110F572-DC3D-4AB3-B731-B73BD6505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A2F7D0E9-68CE-40F9-B0E9-F915103ECF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AB69A438-1FB7-454A-A3E9-0C329643CD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32">
                <a:extLst>
                  <a:ext uri="{FF2B5EF4-FFF2-40B4-BE49-F238E27FC236}">
                    <a16:creationId xmlns:a16="http://schemas.microsoft.com/office/drawing/2014/main" id="{E64598D0-3A2C-4570-9E7C-C52C89549B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33">
                <a:extLst>
                  <a:ext uri="{FF2B5EF4-FFF2-40B4-BE49-F238E27FC236}">
                    <a16:creationId xmlns:a16="http://schemas.microsoft.com/office/drawing/2014/main" id="{CC17CF42-8908-477B-9F36-DA1306CA0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id="{A2457851-D4A0-404C-BF3F-99AE00B9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id="{ECC300FA-EE4A-489E-9A47-79BEBF05DC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5">
                <a:extLst>
                  <a:ext uri="{FF2B5EF4-FFF2-40B4-BE49-F238E27FC236}">
                    <a16:creationId xmlns:a16="http://schemas.microsoft.com/office/drawing/2014/main" id="{0D1F26E2-902B-416B-A1DB-80DAF78D8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36">
                <a:extLst>
                  <a:ext uri="{FF2B5EF4-FFF2-40B4-BE49-F238E27FC236}">
                    <a16:creationId xmlns:a16="http://schemas.microsoft.com/office/drawing/2014/main" id="{491346A0-BF6D-45A5-806A-215076872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8">
                <a:extLst>
                  <a:ext uri="{FF2B5EF4-FFF2-40B4-BE49-F238E27FC236}">
                    <a16:creationId xmlns:a16="http://schemas.microsoft.com/office/drawing/2014/main" id="{A8A5AAC9-38FD-4A03-AB91-236F2AAC62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9">
                <a:extLst>
                  <a:ext uri="{FF2B5EF4-FFF2-40B4-BE49-F238E27FC236}">
                    <a16:creationId xmlns:a16="http://schemas.microsoft.com/office/drawing/2014/main" id="{7AD4105C-55AA-47FF-AC5D-5BCB0B78C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40">
                <a:extLst>
                  <a:ext uri="{FF2B5EF4-FFF2-40B4-BE49-F238E27FC236}">
                    <a16:creationId xmlns:a16="http://schemas.microsoft.com/office/drawing/2014/main" id="{1C4B42B1-B112-4057-82C3-E5AF3BC7F6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Rectangle 41">
                <a:extLst>
                  <a:ext uri="{FF2B5EF4-FFF2-40B4-BE49-F238E27FC236}">
                    <a16:creationId xmlns:a16="http://schemas.microsoft.com/office/drawing/2014/main" id="{C8B37395-3651-4E66-A62E-31529FABC8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84F75F-97BF-FA93-240F-455FE9B42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en-US" sz="4100"/>
              <a:t>Find-X: UIU Lost and Found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B122D-FE3C-16BF-4343-696F177B0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/>
              <a:t>DBMS Project Presentation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6D540F-1E2F-416F-819F-D8216BC8F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5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5B367C29-5200-4FF1-83B7-18B105A0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C711491-7BB6-4BE6-A470-44BF61D5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E4F104B-68BE-4E53-A6A5-5C5F93FF7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EF4A7076-D6BC-4AE1-AE2C-C09B16AAB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58FA119B-7250-4EC7-912F-F5613CC28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7B9A9AED-D47E-44AD-AD6E-2EECC94D88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00A30ECA-328D-4512-825B-0AD5960467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14A218CE-B3D8-4A43-86CC-48980645A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E9743B7D-51BF-425C-A4B8-33B2E001E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9BA633B3-C879-4E15-B66C-788B4C60A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324C8953-B4E2-4DA0-B5D5-BD2A735E67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717A3B65-FE80-419B-AB5D-48B5E3A7B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675ECD78-7D6B-4A3F-8163-392D7F8D6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8D036282-E32F-461D-BFB6-2A58D6D2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F95EB10E-5264-467D-8382-A77C4DED2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218F9268-D2F0-487B-A021-8786B6551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B4AEE5AC-EF5C-42E4-B185-A176E1997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E961E89F-C1DB-48E5-8B52-FDDAED9E0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412962B4-425A-4C36-A65A-0F66ED7CD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037BE3F7-563A-4D9A-BC98-C71F727D2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2FDB1005-EB5E-475A-AC43-4ED3E563DE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68BFFBC6-C704-42A7-9D7E-AFB5C37FB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4888EAD7-EBE9-4549-9A91-6FEC61153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B79BC975-BE42-4B57-8335-1699BC0AB1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3998B4F0-CA80-490A-A256-1600E7EA88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2052C104-8168-487E-9044-454DA83AB2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63ACA30B-5F59-400C-A7CE-D17B5647E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2E16F318-A142-4353-9949-B4E3A09FE0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8AE8DBB4-2468-4A78-A54D-FD77C5DC8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B0E7CEF2-11E4-465C-8F1F-AA8367F96A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8B30AFD-E104-45DD-BFBB-5A41F1413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CE45A3DF-350B-4A5E-AEBE-F0F280AD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966D2640-A438-4FB6-B781-5A52DEC85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34E1EFFF-720C-4CC0-9F95-DD1DAF99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EA7AB0E1-6C49-409D-86F5-BE00BDDFC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5D17598C-0C57-4F4E-8F6B-A2AD8071F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EBEBC0DC-F56F-48FE-824E-E9378C4897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CC7FDCF1-1736-48A0-BDB2-87D6E0906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2A650CF5-564F-44D1-AB08-6C500DD3C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3108FEFA-0402-4C1C-AE39-5ADC09402F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340AE827-F344-464F-851C-E03AFC98D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C97CAAD-710A-EBBA-77DD-EFD2636118FC}"/>
              </a:ext>
            </a:extLst>
          </p:cNvPr>
          <p:cNvSpPr txBox="1"/>
          <p:nvPr/>
        </p:nvSpPr>
        <p:spPr>
          <a:xfrm>
            <a:off x="1596611" y="777082"/>
            <a:ext cx="2819146" cy="1953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2000" b="1" dirty="0"/>
              <a:t>Project’s Team Name: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Team Find-X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7B689E-B7B6-DE67-287A-52FA9DC76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961" y="3042064"/>
            <a:ext cx="10287985" cy="319363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BF5048-14C0-3C81-2153-D2CB89181365}"/>
              </a:ext>
            </a:extLst>
          </p:cNvPr>
          <p:cNvSpPr txBox="1"/>
          <p:nvPr/>
        </p:nvSpPr>
        <p:spPr>
          <a:xfrm>
            <a:off x="5716872" y="1086147"/>
            <a:ext cx="476864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Submitted to:</a:t>
            </a:r>
          </a:p>
          <a:p>
            <a:r>
              <a:rPr lang="en-US" dirty="0"/>
              <a:t>Mr. Farhan Anan </a:t>
            </a:r>
            <a:r>
              <a:rPr lang="en-US" dirty="0" err="1"/>
              <a:t>Himu</a:t>
            </a:r>
            <a:endParaRPr lang="en-US" dirty="0"/>
          </a:p>
          <a:p>
            <a:r>
              <a:rPr lang="en-US" dirty="0"/>
              <a:t>Lecturer</a:t>
            </a:r>
          </a:p>
          <a:p>
            <a:r>
              <a:rPr lang="en-US" dirty="0"/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1168030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013F4-0E07-A635-727B-9EF34227F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59" y="58548"/>
            <a:ext cx="5893520" cy="3315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C1F35-7190-0BA1-0E6A-AF39F4595903}"/>
              </a:ext>
            </a:extLst>
          </p:cNvPr>
          <p:cNvSpPr txBox="1"/>
          <p:nvPr/>
        </p:nvSpPr>
        <p:spPr>
          <a:xfrm>
            <a:off x="6963508" y="552659"/>
            <a:ext cx="4270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 begin by selecting their role as Student, Staff, or Admin.</a:t>
            </a:r>
            <a:br>
              <a:rPr lang="en-US" dirty="0"/>
            </a:br>
            <a:r>
              <a:rPr lang="en-US" dirty="0"/>
              <a:t>This ensures that each user can access only the features permitted for their role.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6CA833-BF9A-BFA0-1D8D-07FDB8A40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231" y="3429000"/>
            <a:ext cx="6150613" cy="33151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C76BBD-5E54-8D68-0D75-14AE35118B22}"/>
              </a:ext>
            </a:extLst>
          </p:cNvPr>
          <p:cNvSpPr txBox="1"/>
          <p:nvPr/>
        </p:nvSpPr>
        <p:spPr>
          <a:xfrm>
            <a:off x="993058" y="4296697"/>
            <a:ext cx="38149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 authenticate themselves using their UIU ID and verified contact information.</a:t>
            </a:r>
            <a:br>
              <a:rPr lang="en-US" dirty="0"/>
            </a:br>
            <a:r>
              <a:rPr lang="en-US" dirty="0"/>
              <a:t>This step ensures secure and accountable access to the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67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9C89D0-B97F-0B9A-3C04-255853EFC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18" y="225578"/>
            <a:ext cx="5512953" cy="41643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169CA8-6A45-EA2C-3745-CBDD4383D358}"/>
              </a:ext>
            </a:extLst>
          </p:cNvPr>
          <p:cNvSpPr txBox="1"/>
          <p:nvPr/>
        </p:nvSpPr>
        <p:spPr>
          <a:xfrm>
            <a:off x="6320631" y="757084"/>
            <a:ext cx="5093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dashboard allows users to manage their reported items and active claims.</a:t>
            </a:r>
            <a:br>
              <a:rPr lang="en-US" dirty="0"/>
            </a:br>
            <a:r>
              <a:rPr lang="en-US" dirty="0"/>
              <a:t>From here, users can report new items and initiate the handover process.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8805C7-4296-0D04-9F54-2EE016F8D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48232"/>
            <a:ext cx="5850193" cy="41643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F01C693-AD4C-52C6-BF20-7C241A27D99D}"/>
              </a:ext>
            </a:extLst>
          </p:cNvPr>
          <p:cNvSpPr txBox="1"/>
          <p:nvPr/>
        </p:nvSpPr>
        <p:spPr>
          <a:xfrm>
            <a:off x="875071" y="4817806"/>
            <a:ext cx="43360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section displays all items reported by the user.</a:t>
            </a:r>
            <a:br>
              <a:rPr lang="en-US" dirty="0"/>
            </a:br>
            <a:r>
              <a:rPr lang="en-US" dirty="0"/>
              <a:t>Users can track the current status and timeline of each reported item.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055687-EE39-7E22-138A-5E3F19D75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69" y="99479"/>
            <a:ext cx="5496448" cy="32313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372082-405D-3256-F95B-B29FF89C6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430" y="99478"/>
            <a:ext cx="5895031" cy="3105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9D7A82-CA94-BD04-D9E6-B41E0F1F7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69" y="3428999"/>
            <a:ext cx="5496448" cy="3148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EF543F-E5CA-1DB5-6760-0E5C74BA14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430" y="3428999"/>
            <a:ext cx="5895031" cy="328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3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45123-028A-CD50-D273-0903B7BF9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864" y="601727"/>
            <a:ext cx="8792309" cy="511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8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619D5-6828-17A6-E5CB-1F9D9311C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2057399"/>
            <a:ext cx="3517119" cy="2743200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55F1710-24BF-CB2F-17B0-B42861FBE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895" y="2057399"/>
            <a:ext cx="3537345" cy="2743200"/>
          </a:xfrm>
          <a:prstGeom prst="rect">
            <a:avLst/>
          </a:prstGeom>
        </p:spPr>
      </p:pic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7869500-3072-CB00-19D2-7E57032D9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00" y="2057400"/>
            <a:ext cx="3517120" cy="27431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BB5847-CF78-4295-9990-EC012F291CF0}"/>
              </a:ext>
            </a:extLst>
          </p:cNvPr>
          <p:cNvSpPr txBox="1"/>
          <p:nvPr/>
        </p:nvSpPr>
        <p:spPr>
          <a:xfrm>
            <a:off x="723902" y="409575"/>
            <a:ext cx="2962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1.Displays all found items without applying any category filter, allowing users to browse the complete list.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AF331-335F-4009-A592-88120F3F5D2D}"/>
              </a:ext>
            </a:extLst>
          </p:cNvPr>
          <p:cNvSpPr txBox="1"/>
          <p:nvPr/>
        </p:nvSpPr>
        <p:spPr>
          <a:xfrm>
            <a:off x="4533900" y="5124450"/>
            <a:ext cx="28479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2.Shows the category selection dropdown, where users can choose from options such as Electronics, Documents, Stationery, etc.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4A2C0C-D18C-4173-B8C4-E0D27243B891}"/>
              </a:ext>
            </a:extLst>
          </p:cNvPr>
          <p:cNvSpPr txBox="1"/>
          <p:nvPr/>
        </p:nvSpPr>
        <p:spPr>
          <a:xfrm>
            <a:off x="8288895" y="581025"/>
            <a:ext cx="3264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3.After selecting a specific category ,only the items belonging to that category are displayed.</a:t>
            </a:r>
          </a:p>
        </p:txBody>
      </p:sp>
    </p:spTree>
    <p:extLst>
      <p:ext uri="{BB962C8B-B14F-4D97-AF65-F5344CB8AC3E}">
        <p14:creationId xmlns:p14="http://schemas.microsoft.com/office/powerpoint/2010/main" val="90556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C4827AE-987B-D85A-2CA1-98BB0AC42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21" y="2059912"/>
            <a:ext cx="3517119" cy="2441750"/>
          </a:xfrm>
          <a:prstGeom prst="rect">
            <a:avLst/>
          </a:prstGeom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6D28D3C-276B-70BB-167B-DD1785698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2059912"/>
            <a:ext cx="3537345" cy="2441750"/>
          </a:xfrm>
          <a:prstGeom prst="rect">
            <a:avLst/>
          </a:prstGeom>
        </p:spPr>
      </p:pic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2551255-18B0-7127-02DC-3479699CB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1" y="2059912"/>
            <a:ext cx="3517120" cy="2441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640336-3010-45D6-BE91-A8557050FFB4}"/>
              </a:ext>
            </a:extLst>
          </p:cNvPr>
          <p:cNvSpPr txBox="1"/>
          <p:nvPr/>
        </p:nvSpPr>
        <p:spPr>
          <a:xfrm>
            <a:off x="1093134" y="485775"/>
            <a:ext cx="32175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slide shows the lost item reporting form where users provide basic details such as item name, category, and location.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995C4-E383-4962-B5B4-E8B2C2A49DD9}"/>
              </a:ext>
            </a:extLst>
          </p:cNvPr>
          <p:cNvSpPr txBox="1"/>
          <p:nvPr/>
        </p:nvSpPr>
        <p:spPr>
          <a:xfrm>
            <a:off x="4695825" y="4943475"/>
            <a:ext cx="2714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slide, users can upload images as evidence and submit their lost item report for verification.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10F5E-A3B7-45F6-9A24-A3C513DEB1EB}"/>
              </a:ext>
            </a:extLst>
          </p:cNvPr>
          <p:cNvSpPr txBox="1"/>
          <p:nvPr/>
        </p:nvSpPr>
        <p:spPr>
          <a:xfrm>
            <a:off x="8229600" y="485775"/>
            <a:ext cx="2869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slide displays a list of found items, where users can view details and claim their lost items easily.</a:t>
            </a:r>
          </a:p>
        </p:txBody>
      </p:sp>
    </p:spTree>
    <p:extLst>
      <p:ext uri="{BB962C8B-B14F-4D97-AF65-F5344CB8AC3E}">
        <p14:creationId xmlns:p14="http://schemas.microsoft.com/office/powerpoint/2010/main" val="303220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EE0959-7983-8D6F-BED7-659939049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20" y="257854"/>
            <a:ext cx="5827040" cy="30158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54DD74-5B4C-4FB5-36EE-4D512B4671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20" y="3658410"/>
            <a:ext cx="5827040" cy="30158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9BF6A1-B6C3-44C2-54F4-3B56CF136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240" y="1553496"/>
            <a:ext cx="5850151" cy="36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3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241E00-BB8F-66B3-BCA4-C532D4C56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9" y="143065"/>
            <a:ext cx="5898382" cy="3097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5FB0FA-F53F-BDAC-F9AD-7B9372B56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9" y="3617785"/>
            <a:ext cx="5822433" cy="30971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012E2D-1AF1-DDA3-B08B-3A15F6436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70" y="1927122"/>
            <a:ext cx="5806941" cy="33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7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91AFCDAE-1DAB-46AE-B6B6-2FDB00514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177DA77-1A72-4436-9E22-C00FB5903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BDC3D9D-DA08-45D2-A0DC-A7568DA7B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3017A117-8BD0-4A3D-84E6-CB39EEAAF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1D46578A-5826-4D77-B110-3F5E43EC6C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491A9D88-7E0B-41EA-9DF2-7482C7CBC3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D497856-0378-404F-A6E9-34CA28F3EF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3F79E4E-FE0E-4172-992D-D1AFB708BB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BECB6D0C-66D8-4B30-8444-487A3223FA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AA74C092-5D51-40BA-8831-B360B1ECD9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C3CCA82A-132D-4D35-BB2F-333772C6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54DBC41D-3D25-41E9-9CED-54932FB5C6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965FA5F8-895B-43FF-B412-0912A1ABF2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89527709-604B-499D-BE9C-3F2154840C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6BCBE8BA-9C96-41B9-9453-B16008E9A5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BC6A2F23-94BF-4AE5-BA44-4D9BB10A11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AD85358B-2063-42A4-AE99-E02397E586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B87B3F54-4776-4F5A-8FD1-BA16AAA86A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6EEC9ED7-EBF4-48E0-98BB-44AC65B988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7457D1CB-FEB6-42B0-8248-7BC9AA638C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E4BC66CA-455D-45C6-B15D-25041D312D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8BF98504-6F4E-4F1A-B586-179534472B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5DF5F4A7-2207-4A0F-B5A1-249682DAE7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53EE0416-4571-4335-8540-CB4FDF056E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01E45E40-EE85-4D4F-A7D4-703177F386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74216103-2F9F-432D-8A4D-73C09A6F8C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96016FB6-07C7-44F7-BEC8-DC10499877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0B4D5F6C-5B5D-49FB-B6BA-3A16B22089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6DB887CE-77B8-41DB-A0A4-C7A96E6F7E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0A27864D-EC18-44D6-A06D-9C5905074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CD9DF6-D0AA-41D0-8B13-C267CE39D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EDE03EE3-0DB4-45BE-8350-A58DCFA4A0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539BA617-BB84-4546-AC04-22DC1C0655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5A9470FC-97F7-4229-95DF-F911AC337D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D5292F9C-45EB-4DF1-A8E8-701E7F6E9B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14AD1A1F-961F-4522-B4E6-3F64A61A1D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7F8B9AF7-5193-4ED3-A5CB-2FED496A4C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9EEC37C1-206C-4E46-9ACF-B7A997CF08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488EF60F-DC60-4D24-8224-10DA8EAED0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98F15B8D-403F-45B0-858C-C0119204EA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F80B2D23-A3A7-44A0-AF5D-EEAFC63D00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299C35B-CE4B-313E-1FD4-1C7441AF39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96059"/>
            <a:ext cx="5822130" cy="3185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2424C6-25F6-58B4-8B8C-FBB1DE40E0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664" y="3493172"/>
            <a:ext cx="6311261" cy="3268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623617-47FD-47DE-9DF1-0F2A3A1B1418}"/>
              </a:ext>
            </a:extLst>
          </p:cNvPr>
          <p:cNvSpPr txBox="1"/>
          <p:nvPr/>
        </p:nvSpPr>
        <p:spPr>
          <a:xfrm>
            <a:off x="6248400" y="333375"/>
            <a:ext cx="5002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1.This image shows the Staff Panel of the Find-X system.</a:t>
            </a:r>
            <a:br>
              <a:rPr lang="en-US" dirty="0"/>
            </a:br>
            <a:r>
              <a:rPr lang="en-US" dirty="0"/>
              <a:t>Staff use </a:t>
            </a:r>
            <a:r>
              <a:rPr lang="en-US" b="1" dirty="0"/>
              <a:t>Take Item</a:t>
            </a:r>
            <a:r>
              <a:rPr lang="en-US" dirty="0"/>
              <a:t> to register found items by scanning a QR code, and </a:t>
            </a:r>
            <a:r>
              <a:rPr lang="en-US" b="1" dirty="0"/>
              <a:t>Give Item</a:t>
            </a:r>
            <a:r>
              <a:rPr lang="en-US" dirty="0"/>
              <a:t> to return approved items to the rightful owner.</a:t>
            </a:r>
          </a:p>
        </p:txBody>
      </p:sp>
      <p:sp>
        <p:nvSpPr>
          <p:cNvPr id="53" name="Rectangle 4">
            <a:extLst>
              <a:ext uri="{FF2B5EF4-FFF2-40B4-BE49-F238E27FC236}">
                <a16:creationId xmlns:a16="http://schemas.microsoft.com/office/drawing/2014/main" id="{3DC9074D-A1C7-44FA-B5F0-87B649737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17" y="4526222"/>
            <a:ext cx="50835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2.This image shows the Asset Release process.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QR code is used to verify the claimant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securely hand over the item.”</a:t>
            </a:r>
          </a:p>
        </p:txBody>
      </p:sp>
    </p:spTree>
    <p:extLst>
      <p:ext uri="{BB962C8B-B14F-4D97-AF65-F5344CB8AC3E}">
        <p14:creationId xmlns:p14="http://schemas.microsoft.com/office/powerpoint/2010/main" val="155624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2A9888-5CD0-9F8F-EE5A-3C034BA4C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661832"/>
            <a:ext cx="5426764" cy="22249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0C2485-21A6-4C3D-CF97-EEF414A54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905673"/>
            <a:ext cx="5426764" cy="221140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EFB48-B9D1-25F3-11DF-0C7CE1B49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2203508"/>
            <a:ext cx="5426764" cy="230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4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7269701-095B-F5BB-63C4-28FC54006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634699"/>
            <a:ext cx="5426764" cy="22792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B19A26-BE08-5B23-D9F9-1633304D9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885322"/>
            <a:ext cx="5426764" cy="2252107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A53056-A9BC-13DD-7F9D-2F7C35CB2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2217075"/>
            <a:ext cx="5426764" cy="227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8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12B025-2FBC-1622-9A06-E30F4FF9D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296" y="3682920"/>
            <a:ext cx="4724569" cy="196069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1B05CFD-23DE-DE10-DE05-637572621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16" y="3682920"/>
            <a:ext cx="4732940" cy="192867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F91B3CD-49F1-7983-6053-92C08596F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603" y="1274704"/>
            <a:ext cx="4724569" cy="19606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842250-8A11-F9C4-BEBA-9B7A3081DB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982" y="1247566"/>
            <a:ext cx="4732940" cy="1987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60E1D5-F6E0-4BAE-B980-BC6D37199DB5}"/>
              </a:ext>
            </a:extLst>
          </p:cNvPr>
          <p:cNvSpPr txBox="1"/>
          <p:nvPr/>
        </p:nvSpPr>
        <p:spPr>
          <a:xfrm>
            <a:off x="1403027" y="315304"/>
            <a:ext cx="43214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slide shows the ID Verification Registry where the system attempts to extract ID information for verification.</a:t>
            </a:r>
            <a:br>
              <a:rPr lang="en-US" sz="1400" dirty="0"/>
            </a:br>
            <a:r>
              <a:rPr lang="en-US" sz="1400" dirty="0"/>
              <a:t>If extraction fails, it is clearly marked for review.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21EDD4-A914-4B0E-87EE-A04DB6CA1CC6}"/>
              </a:ext>
            </a:extLst>
          </p:cNvPr>
          <p:cNvSpPr txBox="1"/>
          <p:nvPr/>
        </p:nvSpPr>
        <p:spPr>
          <a:xfrm>
            <a:off x="6338316" y="438150"/>
            <a:ext cx="3834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Here, staff can manually verify and confirm the extracted ID number to approve a claim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44E93-2C30-4B87-9288-0A75923D7D0D}"/>
              </a:ext>
            </a:extLst>
          </p:cNvPr>
          <p:cNvSpPr txBox="1"/>
          <p:nvPr/>
        </p:nvSpPr>
        <p:spPr>
          <a:xfrm>
            <a:off x="1403027" y="5878487"/>
            <a:ext cx="4073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slide represents the Command Hub, where administrators can monitor items and manage system-level controls and overrides.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4FE97-2CD7-42A1-8510-D3F9D764A4CB}"/>
              </a:ext>
            </a:extLst>
          </p:cNvPr>
          <p:cNvSpPr txBox="1"/>
          <p:nvPr/>
        </p:nvSpPr>
        <p:spPr>
          <a:xfrm>
            <a:off x="6438900" y="5824510"/>
            <a:ext cx="4073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slide shows the item lifecycle, displaying different states such as active, pending handover, ready for pickup, and resolved.</a:t>
            </a:r>
          </a:p>
        </p:txBody>
      </p:sp>
    </p:spTree>
    <p:extLst>
      <p:ext uri="{BB962C8B-B14F-4D97-AF65-F5344CB8AC3E}">
        <p14:creationId xmlns:p14="http://schemas.microsoft.com/office/powerpoint/2010/main" val="197990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ECBFDD-9B42-AD14-AA17-F9C2957DEB2E}"/>
              </a:ext>
            </a:extLst>
          </p:cNvPr>
          <p:cNvSpPr txBox="1"/>
          <p:nvPr/>
        </p:nvSpPr>
        <p:spPr>
          <a:xfrm>
            <a:off x="1700981" y="397401"/>
            <a:ext cx="8790038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Find-X : Database Schema Overview</a:t>
            </a:r>
          </a:p>
          <a:p>
            <a:endParaRPr lang="en-US" dirty="0"/>
          </a:p>
          <a:p>
            <a:r>
              <a:rPr lang="en-US" b="1" dirty="0"/>
              <a:t>User &amp; Master Data</a:t>
            </a:r>
            <a:br>
              <a:rPr lang="en-US" dirty="0"/>
            </a:br>
            <a:r>
              <a:rPr lang="en-US" dirty="0"/>
              <a:t>User | Category | Location</a:t>
            </a:r>
          </a:p>
          <a:p>
            <a:endParaRPr lang="en-US" dirty="0"/>
          </a:p>
          <a:p>
            <a:r>
              <a:rPr lang="en-US" b="1" dirty="0"/>
              <a:t>Lost &amp; Found Core</a:t>
            </a:r>
            <a:br>
              <a:rPr lang="en-US" dirty="0"/>
            </a:br>
            <a:r>
              <a:rPr lang="en-US" dirty="0"/>
              <a:t>Item | </a:t>
            </a:r>
            <a:r>
              <a:rPr lang="en-US" dirty="0" err="1"/>
              <a:t>LostItem</a:t>
            </a:r>
            <a:r>
              <a:rPr lang="en-US" dirty="0"/>
              <a:t> | </a:t>
            </a:r>
            <a:r>
              <a:rPr lang="en-US" dirty="0" err="1"/>
              <a:t>ItemImage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Claim &amp; Recovery</a:t>
            </a:r>
            <a:br>
              <a:rPr lang="en-US" dirty="0"/>
            </a:br>
            <a:r>
              <a:rPr lang="en-US" dirty="0"/>
              <a:t>Claim | </a:t>
            </a:r>
            <a:r>
              <a:rPr lang="en-US" dirty="0" err="1"/>
              <a:t>QuizLog</a:t>
            </a:r>
            <a:r>
              <a:rPr lang="en-US" dirty="0"/>
              <a:t> | </a:t>
            </a:r>
            <a:r>
              <a:rPr lang="en-US" dirty="0" err="1"/>
              <a:t>RecoveryOTP</a:t>
            </a:r>
            <a:r>
              <a:rPr lang="en-US" dirty="0"/>
              <a:t> | </a:t>
            </a:r>
            <a:r>
              <a:rPr lang="en-US" dirty="0" err="1"/>
              <a:t>HandoverSession</a:t>
            </a:r>
            <a:r>
              <a:rPr lang="en-US" dirty="0"/>
              <a:t> | Dispute</a:t>
            </a:r>
          </a:p>
          <a:p>
            <a:endParaRPr lang="en-US" dirty="0"/>
          </a:p>
          <a:p>
            <a:r>
              <a:rPr lang="en-US" b="1" dirty="0"/>
              <a:t>AI, Logs &amp; Support</a:t>
            </a:r>
            <a:br>
              <a:rPr lang="en-US" dirty="0"/>
            </a:br>
            <a:r>
              <a:rPr lang="en-US" dirty="0" err="1"/>
              <a:t>FastIDItem</a:t>
            </a:r>
            <a:r>
              <a:rPr lang="en-US" dirty="0"/>
              <a:t> | </a:t>
            </a:r>
            <a:r>
              <a:rPr lang="en-US" dirty="0" err="1"/>
              <a:t>FastIDMatch</a:t>
            </a:r>
            <a:r>
              <a:rPr lang="en-US" dirty="0"/>
              <a:t> | </a:t>
            </a:r>
            <a:r>
              <a:rPr lang="en-US" dirty="0" err="1"/>
              <a:t>CVScanResult</a:t>
            </a:r>
            <a:r>
              <a:rPr lang="en-US" dirty="0"/>
              <a:t> | </a:t>
            </a:r>
            <a:r>
              <a:rPr lang="en-US" dirty="0" err="1"/>
              <a:t>AuditLog</a:t>
            </a:r>
            <a:r>
              <a:rPr lang="en-US" dirty="0"/>
              <a:t> | Notification</a:t>
            </a:r>
          </a:p>
          <a:p>
            <a:endParaRPr lang="en-US" b="1" dirty="0"/>
          </a:p>
          <a:p>
            <a:r>
              <a:rPr lang="en-US" b="1" dirty="0"/>
              <a:t>Core Relationship Flow</a:t>
            </a:r>
            <a:br>
              <a:rPr lang="en-US" dirty="0"/>
            </a:br>
            <a:r>
              <a:rPr lang="en-US" dirty="0"/>
              <a:t>User → Item → Claim → Logs</a:t>
            </a:r>
            <a:br>
              <a:rPr lang="en-US" dirty="0"/>
            </a:br>
            <a:r>
              <a:rPr lang="en-US" dirty="0" err="1"/>
              <a:t>FastID</a:t>
            </a:r>
            <a:r>
              <a:rPr lang="en-US" dirty="0"/>
              <a:t> tables link Lost &amp; Found IDs</a:t>
            </a:r>
          </a:p>
          <a:p>
            <a:endParaRPr lang="en-US" b="1" dirty="0"/>
          </a:p>
          <a:p>
            <a:r>
              <a:rPr lang="en-US" b="1" dirty="0"/>
              <a:t>Design Note</a:t>
            </a:r>
            <a:br>
              <a:rPr lang="en-US" dirty="0"/>
            </a:br>
            <a:r>
              <a:rPr lang="en-US" dirty="0"/>
              <a:t>Relational | Normalized | Secure | DB-Driven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413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8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8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06" name="Picture 2">
            <a:extLst>
              <a:ext uri="{FF2B5EF4-FFF2-40B4-BE49-F238E27FC236}">
                <a16:creationId xmlns:a16="http://schemas.microsoft.com/office/drawing/2014/main" id="{6D651BB0-1DFD-4941-83DD-704006F6B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Round Diagonal Corner Rectangle 6">
            <a:extLst>
              <a:ext uri="{FF2B5EF4-FFF2-40B4-BE49-F238E27FC236}">
                <a16:creationId xmlns:a16="http://schemas.microsoft.com/office/drawing/2014/main" id="{3D66C6E3-EBD2-40B7-8FD8-D6D2250FC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837D0-D500-8D5A-532E-911F54FEE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843" y="912813"/>
            <a:ext cx="8903231" cy="494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74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3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8" name="Rectangle 187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407DC-B521-5887-82FC-FBAC0C71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0" y="1122363"/>
            <a:ext cx="7559039" cy="3027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THANK YOU</a:t>
            </a: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91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9311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166</TotalTime>
  <Words>505</Words>
  <Application>Microsoft Office PowerPoint</Application>
  <PresentationFormat>Widescreen</PresentationFormat>
  <Paragraphs>41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Tw Cen MT</vt:lpstr>
      <vt:lpstr>Circuit</vt:lpstr>
      <vt:lpstr>Find-X: UIU Lost and Found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Find-X: UIU Lost and Found Management System</dc:title>
  <dc:creator>LENOVO</dc:creator>
  <cp:lastModifiedBy>Sazzad Sunfi</cp:lastModifiedBy>
  <cp:revision>2</cp:revision>
  <dcterms:created xsi:type="dcterms:W3CDTF">2026-01-24T19:32:07Z</dcterms:created>
  <dcterms:modified xsi:type="dcterms:W3CDTF">2026-01-25T03:09:34Z</dcterms:modified>
</cp:coreProperties>
</file>